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2328"/>
                </a:solidFill>
                <a:latin typeface="Microsoft YaHei"/>
              </a:rPr>
              <a:t>GM_Automation 项目讲解</a:t>
            </a:r>
          </a:p>
          <a:p>
            <a:pPr>
              <a:spcBef>
                <a:spcPts val="400"/>
              </a:spcBef>
              <a:defRPr sz="1100">
                <a:solidFill>
                  <a:srgbClr val="595959"/>
                </a:solidFill>
                <a:latin typeface="Microsoft YaHei"/>
              </a:defRPr>
            </a:pPr>
            <a:r>
              <a:t>Global Mapper 自动化流程融合方案 | 5 页版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1417320" cy="329184"/>
          </a:xfrm>
          <a:prstGeom prst="roundRect">
            <a:avLst/>
          </a:prstGeom>
          <a:solidFill>
            <a:srgbClr val="2F54EB"/>
          </a:solidFill>
          <a:ln>
            <a:solidFill>
              <a:srgbClr val="2F5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项目目标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53949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527048"/>
            <a:ext cx="5065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F54EB"/>
                </a:solidFill>
                <a:latin typeface="Microsoft YaHei"/>
              </a:rPr>
              <a:t>项目背景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56232"/>
            <a:ext cx="4992624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目标软件为 Global Mapper，流程长、界面复杂、稳定性要求高。</a:t>
            </a:r>
          </a:p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纯 AI 全流程虽然灵活，但速度慢、成本高，且重复步骤容易反复判断。</a:t>
            </a:r>
          </a:p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项目已沉淀脚本录制、控件定位、图片模板、AI 决策四类能力。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17320"/>
            <a:ext cx="55778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1072" y="1527048"/>
            <a:ext cx="52486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90FF"/>
                </a:solidFill>
                <a:latin typeface="Microsoft YaHei"/>
              </a:rPr>
              <a:t>本阶段交付目标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1856232"/>
            <a:ext cx="5175504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实现“固定脚本优先、模板识别兜底、AI 只处理难点”的自动化链路。</a:t>
            </a:r>
          </a:p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以 Robot Framework 为总调度，串联 Python 执行层与 UI-TARS 桌面智能体。</a:t>
            </a:r>
          </a:p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围绕投影配置、DWG 导入、图层处理等核心业务持续打磨。</a:t>
            </a:r>
          </a:p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补充总控台、模板制作器、流程编辑器，支持运维、调试与后续扩展。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2328"/>
                </a:solidFill>
                <a:latin typeface="Microsoft YaHei"/>
              </a:rPr>
              <a:t>技术路线演进</a:t>
            </a:r>
          </a:p>
          <a:p>
            <a:pPr>
              <a:spcBef>
                <a:spcPts val="400"/>
              </a:spcBef>
              <a:defRPr sz="1100">
                <a:solidFill>
                  <a:srgbClr val="595959"/>
                </a:solidFill>
                <a:latin typeface="Microsoft YaHei"/>
              </a:defRPr>
            </a:pPr>
            <a:r>
              <a:t>从“全流程 AI”切换为“录制脚本 + 模板识别 + AI 介入”的分层执行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011680"/>
            <a:ext cx="2057400" cy="914400"/>
          </a:xfrm>
          <a:prstGeom prst="roundRect">
            <a:avLst/>
          </a:prstGeom>
          <a:solidFill>
            <a:srgbClr val="E69138"/>
          </a:solidFill>
          <a:ln>
            <a:solidFill>
              <a:srgbClr val="E69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阶段 1
全流程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97480" y="22402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  <a:latin typeface="Microsoft YaHei"/>
              </a:rP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80" y="2011680"/>
            <a:ext cx="2331720" cy="914400"/>
          </a:xfrm>
          <a:prstGeom prst="roundRect">
            <a:avLst/>
          </a:prstGeom>
          <a:solidFill>
            <a:srgbClr val="2F54EB"/>
          </a:solidFill>
          <a:ln>
            <a:solidFill>
              <a:srgbClr val="2F5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阶段 2
录制脚本主执行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22402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  <a:latin typeface="Microsoft YaHe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2011680"/>
            <a:ext cx="2331720" cy="914400"/>
          </a:xfrm>
          <a:prstGeom prst="roundRect">
            <a:avLst/>
          </a:prstGeom>
          <a:solidFill>
            <a:srgbClr val="1890FF"/>
          </a:solidFill>
          <a:ln>
            <a:solidFill>
              <a:srgbClr val="18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阶段 3
图片模板兜底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2402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  <a:latin typeface="Microsoft Ya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2011680"/>
            <a:ext cx="2331720" cy="914400"/>
          </a:xfrm>
          <a:prstGeom prst="roundRect">
            <a:avLst/>
          </a:prstGeom>
          <a:solidFill>
            <a:srgbClr val="388E3C"/>
          </a:solidFill>
          <a:ln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阶段 4
AI 续跑处理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83280"/>
            <a:ext cx="5394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493008"/>
            <a:ext cx="5065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F54EB"/>
                </a:solidFill>
                <a:latin typeface="Microsoft YaHei"/>
              </a:rPr>
              <a:t>为什么这样改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822192"/>
            <a:ext cx="4992624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固定流程由脚本执行，速度更快，适合稳定步骤。</a:t>
            </a:r>
          </a:p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脚本失败时先尝试图片模板，减少直接调用 AI 的次数。</a:t>
            </a:r>
          </a:p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AI 只处理复杂判断、异常分支和最后确认动作，显著降低 token 消耗。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383280"/>
            <a:ext cx="53035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3493008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88E3C"/>
                </a:solidFill>
                <a:latin typeface="Microsoft YaHei"/>
              </a:rPr>
              <a:t>关键原则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822192"/>
            <a:ext cx="4901184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记录 `resume_stage / fallback_stage`，告诉 AI 当前已经执行到哪一步。</a:t>
            </a:r>
          </a:p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避免 AI 重新从头执行，重点解决“投影配置重复加载”这一类问题。</a:t>
            </a:r>
          </a:p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把成功的小链路先做局部测试，再并回主流程，降低回归风险。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2328"/>
                </a:solidFill>
                <a:latin typeface="Microsoft YaHei"/>
              </a:rPr>
              <a:t>总体架构与执行链路</a:t>
            </a:r>
          </a:p>
          <a:p>
            <a:pPr>
              <a:spcBef>
                <a:spcPts val="400"/>
              </a:spcBef>
              <a:defRPr sz="1100">
                <a:solidFill>
                  <a:srgbClr val="595959"/>
                </a:solidFill>
                <a:latin typeface="Microsoft YaHei"/>
              </a:defRPr>
            </a:pPr>
            <a:r>
              <a:t>主调度、执行策略、配置与日志能力已经形成闭环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1965960" cy="822960"/>
          </a:xfrm>
          <a:prstGeom prst="roundRect">
            <a:avLst/>
          </a:prstGeom>
          <a:solidFill>
            <a:srgbClr val="2F54EB"/>
          </a:solidFill>
          <a:ln>
            <a:solidFill>
              <a:srgbClr val="2F5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Robot Framework
总调度入口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17830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  <a:latin typeface="Microsoft YaHei"/>
              </a:rP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554480"/>
            <a:ext cx="2011680" cy="822960"/>
          </a:xfrm>
          <a:prstGeom prst="roundRect">
            <a:avLst/>
          </a:prstGeom>
          <a:solidFill>
            <a:srgbClr val="1890FF"/>
          </a:solidFill>
          <a:ln>
            <a:solidFill>
              <a:srgbClr val="18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Python 主流程
GM_AUT_recorded.py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4920" y="17830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  <a:latin typeface="Microsoft YaHe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554480"/>
            <a:ext cx="1737360" cy="822960"/>
          </a:xfrm>
          <a:prstGeom prst="roundRect">
            <a:avLst/>
          </a:prstGeom>
          <a:solidFill>
            <a:srgbClr val="388E3C"/>
          </a:solidFill>
          <a:ln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pywinauto /
录制脚本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7830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  <a:latin typeface="Microsoft Ya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554480"/>
            <a:ext cx="1737360" cy="822960"/>
          </a:xfrm>
          <a:prstGeom prst="roundRect">
            <a:avLst/>
          </a:prstGeom>
          <a:solidFill>
            <a:srgbClr val="E69138"/>
          </a:solidFill>
          <a:ln>
            <a:solidFill>
              <a:srgbClr val="E69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模板匹配
OpenCV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17830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  <a:latin typeface="Microsoft Ya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66960" y="1554480"/>
            <a:ext cx="1737360" cy="822960"/>
          </a:xfrm>
          <a:prstGeom prst="roundRect">
            <a:avLst/>
          </a:prstGeom>
          <a:solidFill>
            <a:srgbClr val="546E7A"/>
          </a:solidFill>
          <a:ln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UI-TARS
AI 介入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43200"/>
            <a:ext cx="3703320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852928"/>
            <a:ext cx="3374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F54EB"/>
                </a:solidFill>
                <a:latin typeface="Microsoft YaHei"/>
              </a:rPr>
              <a:t>当前主流程节点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182112"/>
            <a:ext cx="3300984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启动 GM</a:t>
            </a:r>
          </a:p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配置初始投影</a:t>
            </a:r>
          </a:p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打开源 DWG</a:t>
            </a:r>
          </a:p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DWG 导入后投影确认</a:t>
            </a:r>
          </a:p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按属性拆分图层</a:t>
            </a:r>
          </a:p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展开并右键 DGX 图层</a:t>
            </a:r>
          </a:p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创建覆盖区 / 生成格网 / 导出 GeoTIFF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743200"/>
            <a:ext cx="3429000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2852928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90FF"/>
                </a:solidFill>
                <a:latin typeface="Microsoft YaHei"/>
              </a:rPr>
              <a:t>支撑能力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3182112"/>
            <a:ext cx="3026664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模板库：投影按钮、图层展开/折叠图标。</a:t>
            </a:r>
          </a:p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日志：stdout/stderr、运行日志、调试截图。</a:t>
            </a:r>
          </a:p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配置：模型参数、仓库路径、BaseURL、最近历史。</a:t>
            </a:r>
          </a:p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容错：固定流程 -&gt; 图片识别 -&gt; AI 续跑。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2743200"/>
            <a:ext cx="3703320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2852928"/>
            <a:ext cx="3374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88E3C"/>
                </a:solidFill>
                <a:latin typeface="Microsoft YaHei"/>
              </a:rPr>
              <a:t>已验证成果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3182112"/>
            <a:ext cx="3300984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投影流程支持阶段续跑。</a:t>
            </a:r>
          </a:p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DWG 投影确认改为“脚本加载 + AI 仅确认参数”。</a:t>
            </a:r>
          </a:p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图层展开 -&gt; 右键 DGX 图层已完成局部验证并并回主流程。</a:t>
            </a:r>
          </a:p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流程编辑器已支持步骤和细分控件建模。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2328"/>
                </a:solidFill>
                <a:latin typeface="Microsoft YaHei"/>
              </a:rPr>
              <a:t>界面与使用讲解</a:t>
            </a:r>
          </a:p>
          <a:p>
            <a:pPr>
              <a:spcBef>
                <a:spcPts val="400"/>
              </a:spcBef>
              <a:defRPr sz="1100">
                <a:solidFill>
                  <a:srgbClr val="595959"/>
                </a:solidFill>
                <a:latin typeface="Microsoft YaHei"/>
              </a:defRPr>
            </a:pPr>
            <a:r>
              <a:t>围绕日常运行、模板维护、流程维护三类工作提供可视化入口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34440"/>
            <a:ext cx="36576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344168"/>
            <a:ext cx="3328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F54EB"/>
                </a:solidFill>
                <a:latin typeface="Microsoft YaHei"/>
              </a:rPr>
              <a:t>1. 总控台 GM_Launcher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73352"/>
            <a:ext cx="3255264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启动/停止主流程，实时查看日志和状态。</a:t>
            </a:r>
          </a:p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直接编辑模型配置并保存最近使用记录。</a:t>
            </a:r>
          </a:p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一键进入模板制作、流程编辑、日志打包和环境检查。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36576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3767328"/>
            <a:ext cx="3328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69138"/>
                </a:solidFill>
                <a:latin typeface="Microsoft YaHei"/>
              </a:rPr>
              <a:t>2. 模板制作器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096512"/>
            <a:ext cx="3255264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用于制作投影按钮和图层图标模板。</a:t>
            </a:r>
          </a:p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适合处理按钮小、控件不稳定、脚本定位困难的场景。</a:t>
            </a:r>
          </a:p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建议保持与运行环境一致的缩放比例和分辨率。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6576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344168"/>
            <a:ext cx="3328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90FF"/>
                </a:solidFill>
                <a:latin typeface="Microsoft YaHei"/>
              </a:rPr>
              <a:t>3. 流程编辑器 GM_Flow_Editor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673352"/>
            <a:ext cx="3255264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展示流程链路，支持步骤增删改与控件级信息维护。</a:t>
            </a:r>
          </a:p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已接入 Inspect 文本解析，可记录名称、类型、辅助判断等。</a:t>
            </a:r>
          </a:p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新增半自动采集与交互点击采集，降低多控件录入成本。</a:t>
            </a:r>
          </a:p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后续将继续把定义层与真正执行层联动。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234440"/>
            <a:ext cx="35204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1344168"/>
            <a:ext cx="3191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88E3C"/>
                </a:solidFill>
                <a:latin typeface="Microsoft YaHei"/>
              </a:rPr>
              <a:t>建议使用顺序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1673352"/>
            <a:ext cx="31181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先总控台运行，再模板补强，最后在流程编辑器维护步骤与控件。</a:t>
            </a:r>
          </a:p>
        </p:txBody>
      </p:sp>
      <p:pic>
        <p:nvPicPr>
          <p:cNvPr id="15" name="Picture 14" descr="20260618151637_17_37_projection_contact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2468880"/>
            <a:ext cx="3383280" cy="17905359"/>
          </a:xfrm>
          <a:prstGeom prst="rect">
            <a:avLst/>
          </a:prstGeom>
        </p:spPr>
      </p:pic>
      <p:pic>
        <p:nvPicPr>
          <p:cNvPr id="16" name="Picture 15" descr="20260622_175055_dgx_right_click_after_exp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4160520"/>
            <a:ext cx="3383280" cy="2114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2328"/>
                </a:solidFill>
                <a:latin typeface="Microsoft YaHei"/>
              </a:rPr>
              <a:t>当前现状与下一步</a:t>
            </a:r>
          </a:p>
          <a:p>
            <a:pPr>
              <a:spcBef>
                <a:spcPts val="400"/>
              </a:spcBef>
              <a:defRPr sz="1100">
                <a:solidFill>
                  <a:srgbClr val="595959"/>
                </a:solidFill>
                <a:latin typeface="Microsoft YaHei"/>
              </a:defRPr>
            </a:pPr>
            <a:r>
              <a:t>项目已经进入“主链路打磨 + 编辑器增强 + 智能采集深化”的阶段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2588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435608"/>
            <a:ext cx="3328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F54EB"/>
                </a:solidFill>
                <a:latin typeface="Microsoft YaHei"/>
              </a:rPr>
              <a:t>当前现状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64792"/>
            <a:ext cx="3255264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主流程已跑通多个关键节点，核心技术路线已经稳定。</a:t>
            </a:r>
          </a:p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总控台具备运行监控、模型配置、工具入口、日志打包能力。</a:t>
            </a:r>
          </a:p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流程编辑器完成第一阶段落地，支持步骤级与控件级结构化维护。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2588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62272" y="1435608"/>
            <a:ext cx="3328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69138"/>
                </a:solidFill>
                <a:latin typeface="Microsoft YaHei"/>
              </a:rPr>
              <a:t>当前难点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8848" y="1764792"/>
            <a:ext cx="3255264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Global Mapper 个别小控件、树节点、菜单项定位仍需继续调优。</a:t>
            </a:r>
          </a:p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部分场景需要在脚本、模板、AI 之间做更细的阶段切换。</a:t>
            </a:r>
          </a:p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Inspect 与实际点击存在焦点冲突，因此需要继续优化交互采集命中率。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25880"/>
            <a:ext cx="35661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435608"/>
            <a:ext cx="32369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88E3C"/>
                </a:solidFill>
                <a:latin typeface="Microsoft YaHei"/>
              </a:rPr>
              <a:t>下一步计划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8" y="1764792"/>
            <a:ext cx="3163824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继续联通流程编辑器定义与实际执行。</a:t>
            </a:r>
          </a:p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强化交互点击采集在 GM 特定控件上的识别质量。</a:t>
            </a:r>
          </a:p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逐段补齐覆盖区、格网、导出等尾部链路的稳定性验证。</a:t>
            </a:r>
          </a:p>
          <a:p>
            <a:pPr>
              <a:spcAft>
                <a:spcPts val="400"/>
              </a:spcAft>
              <a:defRPr sz="1100">
                <a:solidFill>
                  <a:srgbClr val="1F2328"/>
                </a:solidFill>
                <a:latin typeface="Microsoft YaHei"/>
              </a:defRPr>
            </a:pPr>
            <a:r>
              <a:t>把项目沉淀为可复用的桌面自动化方案模板。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
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328"/>
                </a:solidFill>
                <a:latin typeface="Microsoft YaHei"/>
              </a:rPr>
              <a:t>GM_Automation 项目讲解</a:t>
            </a:r>
          </a:p>
          <a:p>
            <a:pPr>
              <a:spcBef>
                <a:spcPts val="400"/>
              </a:spcBef>
              <a:defRPr sz="1100">
                <a:solidFill>
                  <a:srgbClr val="595959"/>
                </a:solidFill>
                <a:latin typeface="Microsoft YaHei"/>
              </a:defRPr>
            </a:pPr>
            <a:r>
              <a:t>Global Mapper 自动化流程融合方案 | 5 页版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1417320" cy="329184"/>
          </a:xfrm>
          <a:prstGeom prst="roundRect">
            <a:avLst/>
          </a:prstGeom>
          <a:solidFill>
            <a:srgbClr val="2F54EB"/>
          </a:solidFill>
          <a:ln>
            <a:solidFill>
              <a:srgbClr val="2F5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项目目标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44752"/>
            <a:ext cx="1554480" cy="749808"/>
          </a:xfrm>
          <a:prstGeom prst="roundRect">
            <a:avLst/>
          </a:prstGeom>
          <a:solidFill>
            <a:srgbClr val="2F54EB"/>
          </a:solidFill>
          <a:ln>
            <a:solidFill>
              <a:srgbClr val="2F5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5 页内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Microsoft YaHei"/>
              </a:rPr>
              <a:t>页数控制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8840" y="1444752"/>
            <a:ext cx="1554480" cy="749808"/>
          </a:xfrm>
          <a:prstGeom prst="roundRect">
            <a:avLst/>
          </a:prstGeom>
          <a:solidFill>
            <a:srgbClr val="1890FF"/>
          </a:solidFill>
          <a:ln>
            <a:solidFill>
              <a:srgbClr val="1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三层容错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Microsoft YaHei"/>
              </a:rPr>
              <a:t>执行策略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444752"/>
            <a:ext cx="1554480" cy="749808"/>
          </a:xfrm>
          <a:prstGeom prst="roundRect">
            <a:avLst/>
          </a:prstGeom>
          <a:solidFill>
            <a:srgbClr val="388E3C"/>
          </a:solidFill>
          <a:ln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可持续迭代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Microsoft YaHei"/>
              </a:rPr>
              <a:t>当前定位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539496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487168"/>
            <a:ext cx="5065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54EB"/>
                </a:solidFill>
                <a:latin typeface="Microsoft YaHei"/>
              </a:rPr>
              <a:t>项目背景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16352"/>
            <a:ext cx="4992624" cy="3182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目标软件为 Global Mapper，流程长、界面复杂、稳定性要求高。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纯 AI 全流程虽然灵活，但速度慢、成本高，且重复步骤容易反复判断。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项目已沉淀脚本录制、控件定位、图片模板、AI 决策四类能力。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业务目标不是做单点演示，而是把复杂桌面软件流程沉淀成稳定的自动化资产。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当前已经从“能跑通”进入“能维护、能扩展、能复用”的建设阶段。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377440"/>
            <a:ext cx="557784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2487168"/>
            <a:ext cx="5248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90FF"/>
                </a:solidFill>
                <a:latin typeface="Microsoft YaHei"/>
              </a:rPr>
              <a:t>本阶段交付目标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816352"/>
            <a:ext cx="5175504" cy="3182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实现“固定脚本优先、模板识别兜底、AI 只处理难点”的自动化链路。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以 Robot Framework 为总调度，串联 Python 执行层与 UI-TARS 桌面智能体。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围绕投影配置、DWG 导入、图层处理等核心业务持续打磨。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补充总控台、模板制作器、流程编辑器，支持运维、调试与后续扩展。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建立小链路独立测试机制，避免每次都重跑完整流程。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把控件信息、步骤配置和运行日志逐步结构化，便于后续产品化。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328"/>
                </a:solidFill>
                <a:latin typeface="Microsoft YaHei"/>
              </a:rPr>
              <a:t>技术路线演进</a:t>
            </a:r>
          </a:p>
          <a:p>
            <a:pPr>
              <a:spcBef>
                <a:spcPts val="400"/>
              </a:spcBef>
              <a:defRPr sz="1100">
                <a:solidFill>
                  <a:srgbClr val="595959"/>
                </a:solidFill>
                <a:latin typeface="Microsoft YaHei"/>
              </a:defRPr>
            </a:pPr>
            <a:r>
              <a:t>从“全流程 AI”切换为“录制脚本 + 模板识别 + AI 介入”的分层执行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011680"/>
            <a:ext cx="2057400" cy="914400"/>
          </a:xfrm>
          <a:prstGeom prst="roundRect">
            <a:avLst/>
          </a:prstGeom>
          <a:solidFill>
            <a:srgbClr val="E69138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阶段 1
全流程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97480" y="22402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Microsoft YaHei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2011680"/>
            <a:ext cx="2331720" cy="914400"/>
          </a:xfrm>
          <a:prstGeom prst="roundRect">
            <a:avLst/>
          </a:prstGeom>
          <a:solidFill>
            <a:srgbClr val="2F54EB"/>
          </a:solidFill>
          <a:ln>
            <a:solidFill>
              <a:srgbClr val="2F5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阶段 2
录制脚本主执行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22402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Microsoft YaHe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2011680"/>
            <a:ext cx="2331720" cy="914400"/>
          </a:xfrm>
          <a:prstGeom prst="roundRect">
            <a:avLst/>
          </a:prstGeom>
          <a:solidFill>
            <a:srgbClr val="1890FF"/>
          </a:solidFill>
          <a:ln>
            <a:solidFill>
              <a:srgbClr val="1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阶段 3
图片模板兜底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2402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2011680"/>
            <a:ext cx="2331720" cy="914400"/>
          </a:xfrm>
          <a:prstGeom prst="roundRect">
            <a:avLst/>
          </a:prstGeom>
          <a:solidFill>
            <a:srgbClr val="388E3C"/>
          </a:solidFill>
          <a:ln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阶段 4
AI 续跑处理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5394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493008"/>
            <a:ext cx="5065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54EB"/>
                </a:solidFill>
                <a:latin typeface="Microsoft YaHei"/>
              </a:rPr>
              <a:t>为什么这样改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822192"/>
            <a:ext cx="4992624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固定流程由脚本执行，速度更快，适合稳定步骤。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脚本失败时先尝试图片模板，减少直接调用 AI 的次数。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AI 只处理复杂判断、异常分支和最后确认动作，显著降低 token 消耗。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把 AI 从“全流程操作者”降级为“异常处理器”和“复杂判断器”，整体成本更可控。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383280"/>
            <a:ext cx="53035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3493008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88E3C"/>
                </a:solidFill>
                <a:latin typeface="Microsoft YaHei"/>
              </a:rPr>
              <a:t>关键原则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822192"/>
            <a:ext cx="4901184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记录 `resume_stage / fallback_stage`，告诉 AI 当前已经执行到哪一步。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避免 AI 重新从头执行，重点解决“投影配置重复加载”这一类问题。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把成功的小链路先做局部测试，再并回主流程，降低回归风险。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优先保留已验证成功的旧链路，只在局部补强，减少大面积改动带来的不确定性。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897880"/>
            <a:ext cx="2743200" cy="329184"/>
          </a:xfrm>
          <a:prstGeom prst="roundRect">
            <a:avLst/>
          </a:prstGeom>
          <a:solidFill>
            <a:srgbClr val="388E3C"/>
          </a:solidFill>
          <a:ln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亮点：AI 从重执行改为续跑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5897880"/>
            <a:ext cx="3017520" cy="329184"/>
          </a:xfrm>
          <a:prstGeom prst="roundRect">
            <a:avLst/>
          </a:prstGeom>
          <a:solidFill>
            <a:srgbClr val="1890FF"/>
          </a:solidFill>
          <a:ln>
            <a:solidFill>
              <a:srgbClr val="1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亮点：模板层显著降低 AI 调用频率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5897880"/>
            <a:ext cx="3657600" cy="329184"/>
          </a:xfrm>
          <a:prstGeom prst="roundRect">
            <a:avLst/>
          </a:prstGeom>
          <a:solidFill>
            <a:srgbClr val="2F54EB"/>
          </a:solidFill>
          <a:ln>
            <a:solidFill>
              <a:srgbClr val="2F5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亮点：局部测试后并回主流程，回归风险更低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328"/>
                </a:solidFill>
                <a:latin typeface="Microsoft YaHei"/>
              </a:rPr>
              <a:t>总体架构与执行链路</a:t>
            </a:r>
          </a:p>
          <a:p>
            <a:pPr>
              <a:spcBef>
                <a:spcPts val="400"/>
              </a:spcBef>
              <a:defRPr sz="1100">
                <a:solidFill>
                  <a:srgbClr val="595959"/>
                </a:solidFill>
                <a:latin typeface="Microsoft YaHei"/>
              </a:defRPr>
            </a:pPr>
            <a:r>
              <a:t>主调度、执行策略、配置与日志能力已经形成闭环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1554480" cy="749808"/>
          </a:xfrm>
          <a:prstGeom prst="roundRect">
            <a:avLst/>
          </a:prstGeom>
          <a:solidFill>
            <a:srgbClr val="2F54EB"/>
          </a:solidFill>
          <a:ln>
            <a:solidFill>
              <a:srgbClr val="2F5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Robot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Microsoft YaHei"/>
              </a:rPr>
              <a:t>调度入口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40280" y="914400"/>
            <a:ext cx="1554480" cy="749808"/>
          </a:xfrm>
          <a:prstGeom prst="roundRect">
            <a:avLst/>
          </a:prstGeom>
          <a:solidFill>
            <a:srgbClr val="1890FF"/>
          </a:solidFill>
          <a:ln>
            <a:solidFill>
              <a:srgbClr val="1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Python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Microsoft YaHei"/>
              </a:rPr>
              <a:t>执行核心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7639" y="914400"/>
            <a:ext cx="1554480" cy="749808"/>
          </a:xfrm>
          <a:prstGeom prst="roundRect">
            <a:avLst/>
          </a:prstGeom>
          <a:solidFill>
            <a:srgbClr val="E69138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模板识别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Microsoft YaHei"/>
              </a:rPr>
              <a:t>兜底方式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914400"/>
            <a:ext cx="1554480" cy="749808"/>
          </a:xfrm>
          <a:prstGeom prst="roundRect">
            <a:avLst/>
          </a:prstGeom>
          <a:solidFill>
            <a:srgbClr val="388E3C"/>
          </a:solidFill>
          <a:ln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UI-TARS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Microsoft YaHei"/>
              </a:rPr>
              <a:t>智能介入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914400"/>
            <a:ext cx="1554480" cy="749808"/>
          </a:xfrm>
          <a:prstGeom prst="roundRect">
            <a:avLst/>
          </a:prstGeom>
          <a:solidFill>
            <a:srgbClr val="2F54EB"/>
          </a:solidFill>
          <a:ln>
            <a:solidFill>
              <a:srgbClr val="2F5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总控台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Microsoft YaHei"/>
              </a:rPr>
              <a:t>维护入口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20" y="914400"/>
            <a:ext cx="1554480" cy="749808"/>
          </a:xfrm>
          <a:prstGeom prst="roundRect">
            <a:avLst/>
          </a:prstGeom>
          <a:solidFill>
            <a:srgbClr val="1890FF"/>
          </a:solidFill>
          <a:ln>
            <a:solidFill>
              <a:srgbClr val="1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流程编辑器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Microsoft YaHei"/>
              </a:rPr>
              <a:t>定义层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1965960" cy="822960"/>
          </a:xfrm>
          <a:prstGeom prst="roundRect">
            <a:avLst/>
          </a:prstGeom>
          <a:solidFill>
            <a:srgbClr val="2F54EB"/>
          </a:solidFill>
          <a:ln>
            <a:solidFill>
              <a:srgbClr val="2F5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Robot Framework
总调度入口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7830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1554480"/>
            <a:ext cx="2011680" cy="822960"/>
          </a:xfrm>
          <a:prstGeom prst="roundRect">
            <a:avLst/>
          </a:prstGeom>
          <a:solidFill>
            <a:srgbClr val="1890FF"/>
          </a:solidFill>
          <a:ln>
            <a:solidFill>
              <a:srgbClr val="1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Python 主流程
GM_AUT_recorded.py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7830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1554480"/>
            <a:ext cx="1737360" cy="822960"/>
          </a:xfrm>
          <a:prstGeom prst="roundRect">
            <a:avLst/>
          </a:prstGeom>
          <a:solidFill>
            <a:srgbClr val="388E3C"/>
          </a:solidFill>
          <a:ln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pywinauto /
录制脚本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7830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554480"/>
            <a:ext cx="1737360" cy="822960"/>
          </a:xfrm>
          <a:prstGeom prst="roundRect">
            <a:avLst/>
          </a:prstGeom>
          <a:solidFill>
            <a:srgbClr val="E69138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模板匹配
OpenCV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17830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6960" y="1554480"/>
            <a:ext cx="1737360" cy="822960"/>
          </a:xfrm>
          <a:prstGeom prst="roundRect">
            <a:avLst/>
          </a:prstGeom>
          <a:solidFill>
            <a:srgbClr val="546E7A"/>
          </a:solidFill>
          <a:ln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UI-TARS
AI 介入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743200"/>
            <a:ext cx="370332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852928"/>
            <a:ext cx="3374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54EB"/>
                </a:solidFill>
                <a:latin typeface="Microsoft YaHei"/>
              </a:rPr>
              <a:t>当前主流程节点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3182112"/>
            <a:ext cx="3300984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启动 GM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配置初始投影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打开源 DWG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DWG 导入后投影确认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按属性拆分图层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展开并右键 DGX 图层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创建覆盖区 / 生成格网 / 导出 GeoTIFF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这些节点已经被结构化写入流程定义文件，便于编辑器展示和后续联动。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743200"/>
            <a:ext cx="342900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2852928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90FF"/>
                </a:solidFill>
                <a:latin typeface="Microsoft YaHei"/>
              </a:rPr>
              <a:t>支撑能力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182112"/>
            <a:ext cx="3026664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模板库：投影按钮、图层展开/折叠图标。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日志：stdout/stderr、运行日志、调试截图。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配置：模型参数、仓库路径、BaseURL、最近历史。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容错：固定流程 -&gt; 图片识别 -&gt; AI 续跑。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状态：通过 `resume_stage`、`fallback_stage` 把上下文显式传给 AI。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2743200"/>
            <a:ext cx="370332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2852928"/>
            <a:ext cx="3374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88E3C"/>
                </a:solidFill>
                <a:latin typeface="Microsoft YaHei"/>
              </a:rPr>
              <a:t>已验证成果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8" y="3182112"/>
            <a:ext cx="3300984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投影流程支持阶段续跑。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DWG 投影确认改为“脚本加载 + AI 仅确认参数”。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图层展开 -&gt; 右键 DGX 图层已完成局部验证并并回主流程。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流程编辑器已支持步骤和细分控件建模。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总控台已支持模型配置持久化、最近模型历史与工具入口整合。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328"/>
                </a:solidFill>
                <a:latin typeface="Microsoft YaHei"/>
              </a:rPr>
              <a:t>界面与使用讲解</a:t>
            </a:r>
          </a:p>
          <a:p>
            <a:pPr>
              <a:spcBef>
                <a:spcPts val="400"/>
              </a:spcBef>
              <a:defRPr sz="1100">
                <a:solidFill>
                  <a:srgbClr val="595959"/>
                </a:solidFill>
                <a:latin typeface="Microsoft YaHei"/>
              </a:defRPr>
            </a:pPr>
            <a:r>
              <a:t>围绕日常运行、模板维护、流程维护三类工作提供可视化入口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920240" cy="329184"/>
          </a:xfrm>
          <a:prstGeom prst="roundRect">
            <a:avLst/>
          </a:prstGeom>
          <a:solidFill>
            <a:srgbClr val="2F54EB"/>
          </a:solidFill>
          <a:ln>
            <a:solidFill>
              <a:srgbClr val="2F5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使用对象：运行人员 / 调试人员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914400"/>
            <a:ext cx="1828800" cy="329184"/>
          </a:xfrm>
          <a:prstGeom prst="roundRect">
            <a:avLst/>
          </a:prstGeom>
          <a:solidFill>
            <a:srgbClr val="1890FF"/>
          </a:solidFill>
          <a:ln>
            <a:solidFill>
              <a:srgbClr val="1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使用方式：总控台统一进入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3657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44168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54EB"/>
                </a:solidFill>
                <a:latin typeface="Microsoft YaHei"/>
              </a:rPr>
              <a:t>1. 总控台 GM_Launcher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73352"/>
            <a:ext cx="3255264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启动/停止主流程，实时查看日志和状态。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直接编辑模型配置并保存最近使用记录。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一键进入模板制作、流程编辑、日志打包和环境检查。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适合作为项目演示主界面，也是后续运维和问题排查的统一入口。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57600"/>
            <a:ext cx="3657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767328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69138"/>
                </a:solidFill>
                <a:latin typeface="Microsoft YaHei"/>
              </a:rPr>
              <a:t>2. 模板制作器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096512"/>
            <a:ext cx="3255264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用于制作投影按钮和图层图标模板。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适合处理按钮小、控件不稳定、脚本定位困难的场景。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建议保持与运行环境一致的缩放比例和分辨率。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当前已用于投影配置按钮和图层展开/折叠图标的兜底命中。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6576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344168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90FF"/>
                </a:solidFill>
                <a:latin typeface="Microsoft YaHei"/>
              </a:rPr>
              <a:t>3. 流程编辑器 GM_Flow_Editor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673352"/>
            <a:ext cx="3255264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展示流程链路，支持步骤增删改与控件级信息维护。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已接入 Inspect 文本解析，可记录名称、类型、辅助判断等。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新增半自动采集与交互点击采集，降低多控件录入成本。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后续将继续把定义层与真正执行层联动。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这是后续实现“像商业软件一样维护自动化流程”的关键基础能力。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234440"/>
            <a:ext cx="35204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344168"/>
            <a:ext cx="3191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88E3C"/>
                </a:solidFill>
                <a:latin typeface="Microsoft YaHei"/>
              </a:rPr>
              <a:t>建议使用顺序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1673352"/>
            <a:ext cx="3118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先总控台运行，再模板补强，最后在流程编辑器维护步骤与控件。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遇到局部问题时，优先拆成小测试脚本定位，不直接重跑全链路。</a:t>
            </a:r>
          </a:p>
        </p:txBody>
      </p:sp>
      <p:pic>
        <p:nvPicPr>
          <p:cNvPr id="17" name="Picture 16" descr="20260618151637_17_37_projection_contac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468880"/>
            <a:ext cx="3383280" cy="17905359"/>
          </a:xfrm>
          <a:prstGeom prst="rect">
            <a:avLst/>
          </a:prstGeom>
        </p:spPr>
      </p:pic>
      <p:pic>
        <p:nvPicPr>
          <p:cNvPr id="18" name="Picture 17" descr="20260622_175055_dgx_right_click_after_exp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4160520"/>
            <a:ext cx="3383280" cy="2114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328"/>
                </a:solidFill>
                <a:latin typeface="Microsoft YaHei"/>
              </a:rPr>
              <a:t>当前现状与下一步</a:t>
            </a:r>
          </a:p>
          <a:p>
            <a:pPr>
              <a:spcBef>
                <a:spcPts val="400"/>
              </a:spcBef>
              <a:defRPr sz="1100">
                <a:solidFill>
                  <a:srgbClr val="595959"/>
                </a:solidFill>
                <a:latin typeface="Microsoft YaHei"/>
              </a:defRPr>
            </a:pPr>
            <a:r>
              <a:t>项目已经进入“主链路打磨 + 编辑器增强 + 智能采集深化”的阶段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691640" cy="749808"/>
          </a:xfrm>
          <a:prstGeom prst="roundRect">
            <a:avLst/>
          </a:prstGeom>
          <a:solidFill>
            <a:srgbClr val="388E3C"/>
          </a:solidFill>
          <a:ln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已稳定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Microsoft YaHei"/>
              </a:rPr>
              <a:t>路线状态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31720" y="914400"/>
            <a:ext cx="1691640" cy="749808"/>
          </a:xfrm>
          <a:prstGeom prst="roundRect">
            <a:avLst/>
          </a:prstGeom>
          <a:solidFill>
            <a:srgbClr val="2F54EB"/>
          </a:solidFill>
          <a:ln>
            <a:solidFill>
              <a:srgbClr val="2F5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已落地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Microsoft YaHei"/>
              </a:rPr>
              <a:t>主界面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914400"/>
            <a:ext cx="1691640" cy="749808"/>
          </a:xfrm>
          <a:prstGeom prst="roundRect">
            <a:avLst/>
          </a:prstGeom>
          <a:solidFill>
            <a:srgbClr val="1890FF"/>
          </a:solidFill>
          <a:ln>
            <a:solidFill>
              <a:srgbClr val="1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已成型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Microsoft YaHei"/>
              </a:rPr>
              <a:t>流程编辑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914400"/>
            <a:ext cx="1691640" cy="749808"/>
          </a:xfrm>
          <a:prstGeom prst="roundRect">
            <a:avLst/>
          </a:prstGeom>
          <a:solidFill>
            <a:srgbClr val="E69138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已验证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Microsoft YaHei"/>
              </a:rPr>
              <a:t>模板兜底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914400"/>
            <a:ext cx="1691640" cy="749808"/>
          </a:xfrm>
          <a:prstGeom prst="roundRect">
            <a:avLst/>
          </a:prstGeom>
          <a:solidFill>
            <a:srgbClr val="388E3C"/>
          </a:solidFill>
          <a:ln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可复用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Microsoft YaHei"/>
              </a:rPr>
              <a:t>局部测试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914400"/>
            <a:ext cx="1691640" cy="749808"/>
          </a:xfrm>
          <a:prstGeom prst="roundRect">
            <a:avLst/>
          </a:prstGeom>
          <a:solidFill>
            <a:srgbClr val="2F54EB"/>
          </a:solidFill>
          <a:ln>
            <a:solidFill>
              <a:srgbClr val="2F5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联动执行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Microsoft YaHei"/>
              </a:rPr>
              <a:t>后续重点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35608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54EB"/>
                </a:solidFill>
                <a:latin typeface="Microsoft YaHei"/>
              </a:rPr>
              <a:t>当前现状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64792"/>
            <a:ext cx="3255264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主流程已跑通多个关键节点，核心技术路线已经稳定。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总控台具备运行监控、模型配置、工具入口、日志打包能力。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流程编辑器完成第一阶段落地，支持步骤级与控件级结构化维护。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项目已经不再依赖单一脚本文件，而是开始形成“执行层 + 配置层 + 编辑层”的体系。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2588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435608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69138"/>
                </a:solidFill>
                <a:latin typeface="Microsoft YaHei"/>
              </a:rPr>
              <a:t>当前难点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764792"/>
            <a:ext cx="3255264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Global Mapper 个别小控件、树节点、菜单项定位仍需继续调优。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部分场景需要在脚本、模板、AI 之间做更细的阶段切换。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Inspect 与实际点击存在焦点冲突，因此需要继续优化交互采集命中率。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流程编辑器虽然能维护定义，但与主流程执行层还没有完全自动联通。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25880"/>
            <a:ext cx="3566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435608"/>
            <a:ext cx="32369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88E3C"/>
                </a:solidFill>
                <a:latin typeface="Microsoft YaHei"/>
              </a:rPr>
              <a:t>下一步计划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764792"/>
            <a:ext cx="3163824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继续联通流程编辑器定义与实际执行。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强化交互点击采集在 GM 特定控件上的识别质量。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逐段补齐覆盖区、格网、导出等尾部链路的稳定性验证。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把项目沉淀为可复用的桌面自动化方案模板。</a:t>
            </a:r>
          </a:p>
          <a:p>
            <a:pPr>
              <a:spcAft>
                <a:spcPts val="300"/>
              </a:spcAft>
              <a:defRPr sz="1050">
                <a:solidFill>
                  <a:srgbClr val="1F2328"/>
                </a:solidFill>
                <a:latin typeface="Microsoft YaHei"/>
              </a:defRPr>
            </a:pPr>
            <a:r>
              <a:t>后续可以继续包装为演示版、汇报版和对外介绍版三种材料形态。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